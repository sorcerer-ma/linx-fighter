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评审要素：①为什么是语音 + 硬件伙伴；②平台限制下怎么成立。</a:t>
            </a:r>
          </a:p>
          <a:p>
            <a:r>
              <a:t>口播：开场 20 秒，不要念 logo。直接说「接下来 90 秒，两位玩家用嘴打完一局」。</a:t>
            </a:r>
          </a:p>
          <a:p>
            <a:r>
              <a:t>待人工确认：团队名与讲者姓名、现场时间地点（如变更）。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三个痛点分别对应：输入形态（问答）、伙伴关系（音箱）、社交场景（屏幕）。</a:t>
            </a:r>
          </a:p>
          <a:p>
            <a:r>
              <a:t>讲法：不要骂现有产品，只说明「这三件事各自少了一块」。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这一段配合现场真机演示，作为「如果设备掉线」的兜底讲稿。</a:t>
            </a:r>
          </a:p>
          <a:p>
            <a:r>
              <a:t>操作：两位玩家各说一句话即可推进，不需要触控。</a:t>
            </a:r>
          </a:p>
          <a:p>
            <a:r>
              <a:t>待补：真实演示截图/录屏（本页目前用原话文案代替画面）。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规则细节以 docs/game/game-design.md 与 src/game/rules.ts 为准。</a:t>
            </a:r>
          </a:p>
          <a:p>
            <a:r>
              <a:t>大招 4 点能量、9 点伤害、一局只能一次；普攻 1/3，强攻 2/5，格挡减 2 伤。</a:t>
            </a:r>
          </a:p>
          <a:p>
            <a:r>
              <a:t>为什么 3–5 轮：256,000 局模拟里 87.53% 落在这个区间，适合 90 秒演示。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架构依据：docs/engineering/architecture.md；工具契约 src/mcp/tools.ts。</a:t>
            </a:r>
          </a:p>
          <a:p>
            <a:r>
              <a:t>强调：模型是「触发器」不是「裁判」。任何数值都由 resolveTurn 产生。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这一页是答辩核心：不假装平台有能力，而是逐条说明工程上怎么绕。</a:t>
            </a:r>
          </a:p>
          <a:p>
            <a:r>
              <a:t>第 4 行如实：wait_event 在真机链路上触发不稳定，演示默认不依赖它。</a:t>
            </a:r>
          </a:p>
          <a:p>
            <a:r>
              <a:t>第 1 行 92.2% 是自拟语料，不是平台语料，回答时要主动说明口径。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回答评委最常问的一句：为什么必须是语音？</a:t>
            </a:r>
          </a:p>
          <a:p>
            <a:r>
              <a:t>答案不是「语音很酷」，而是「这个场景里手和眼睛已经被占用了，而且我们需要一个会替你还手的对象」。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讲这页时先讲数字，再主动讲限制——评委对「知道自己缺什么」的团队更放心。</a:t>
            </a:r>
          </a:p>
          <a:p>
            <a:r>
              <a:t>256,000 局的对手是 8 种策略，不是 8 个模型；92.2% 的语料是自拟的。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时间以 docs/product/positioning-and-scope.md 的演示日期为准（2026-10-26）。</a:t>
            </a:r>
          </a:p>
          <a:p>
            <a:r>
              <a:t>9 人日是自建 WS + ASR 的乐观估计，见 platform-voice-capabilities.md 结论 5.5。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待人工补充：团队姓名、背景、联系方式；三个角色对应的是职责不是头衔。</a:t>
            </a:r>
          </a:p>
          <a:p>
            <a:r>
              <a:t>Ask 只提三件，且每件都说清为什么现在需要。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658368"/>
            <a:ext cx="10454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2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HACKATHON 2026　·　语音交互　·　硬件伙伴</a:t>
            </a:r>
          </a:p>
        </p:txBody>
      </p:sp>
      <p:pic>
        <p:nvPicPr>
          <p:cNvPr id="3" name="Picture 2" descr="logo-lockup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" y="1225296"/>
            <a:ext cx="5394960" cy="28713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4169663"/>
            <a:ext cx="9052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26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玩家用嘴指挥自己的硬件伙伴，</a:t>
            </a:r>
          </a:p>
          <a:p>
            <a:pPr algn="l">
              <a:lnSpc>
                <a:spcPct val="136000"/>
              </a:lnSpc>
            </a:pPr>
            <a:r>
              <a:rPr sz="26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和朋友面对面打一场回合制对决。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58384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平台负责唤醒、听写、朗读；服务端用规则引擎统一裁决；模型只做路由、对手决策和规则外问答。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6053328"/>
            <a:ext cx="2743200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163056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6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现场演示　2026-10-26　09:00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6163056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灵犀平台 MCP 接入　·　语音原话透传　·　无屏硬件 + 手机网页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01　·　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语音入口很多，能打的仗很少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47088"/>
            <a:ext cx="1051560" cy="7315"/>
          </a:xfrm>
          <a:prstGeom prst="rect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3642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 spc="4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共鸣：闻声对决　·　黑客松答辩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64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9424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1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321868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语音助手停在问答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32186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000"/>
              </a:lnSpc>
            </a:pPr>
            <a:r>
              <a:rPr sz="13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一次一条，说完就散。</a:t>
            </a:r>
          </a:p>
          <a:p>
            <a:pPr algn="l">
              <a:lnSpc>
                <a:spcPct val="166000"/>
              </a:lnSpc>
            </a:pPr>
            <a:r>
              <a:rPr sz="13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没有回合，没有立场，</a:t>
            </a:r>
          </a:p>
          <a:p>
            <a:pPr algn="l">
              <a:lnSpc>
                <a:spcPct val="166000"/>
              </a:lnSpc>
            </a:pPr>
            <a:r>
              <a:rPr sz="13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更没有输赢。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8536" y="2286000"/>
            <a:ext cx="7315" cy="1874519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249424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1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542032"/>
            <a:ext cx="321868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硬件伙伴停在卖萌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054096"/>
            <a:ext cx="32186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000"/>
              </a:lnSpc>
            </a:pPr>
            <a:r>
              <a:rPr sz="13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会应声、会放歌、会亮灯，</a:t>
            </a:r>
          </a:p>
          <a:p>
            <a:pPr algn="l">
              <a:lnSpc>
                <a:spcPct val="166000"/>
              </a:lnSpc>
            </a:pPr>
            <a:r>
              <a:rPr sz="13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用户那张嘴却没被用上，</a:t>
            </a:r>
          </a:p>
          <a:p>
            <a:pPr algn="l">
              <a:lnSpc>
                <a:spcPct val="166000"/>
              </a:lnSpc>
            </a:pPr>
            <a:r>
              <a:rPr sz="13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它只是音箱加灯。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2286000"/>
            <a:ext cx="7315" cy="1874519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7" y="2249424"/>
            <a:ext cx="3218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 spc="1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2542032"/>
            <a:ext cx="321868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派对游戏停在屏幕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3054096"/>
            <a:ext cx="32186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6000"/>
              </a:lnSpc>
            </a:pPr>
            <a:r>
              <a:rPr sz="13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两个人坐在一起，</a:t>
            </a:r>
          </a:p>
          <a:p>
            <a:pPr algn="l">
              <a:lnSpc>
                <a:spcPct val="166000"/>
              </a:lnSpc>
            </a:pPr>
            <a:r>
              <a:rPr sz="13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却各自低头点按钮，</a:t>
            </a:r>
          </a:p>
          <a:p>
            <a:pPr algn="l">
              <a:lnSpc>
                <a:spcPct val="166000"/>
              </a:lnSpc>
            </a:pPr>
            <a:r>
              <a:rPr sz="13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社交隔着屏幕。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864608"/>
            <a:ext cx="10454335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138928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我们想要一种玩法：必须开口，必须两个人，必须有胜负。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724144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语音不是输入方式之一，而是这个玩法里唯一顺手的输入。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02　·　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一局 90 秒：开房、出招、应对、结算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47088"/>
            <a:ext cx="1051560" cy="7315"/>
          </a:xfrm>
          <a:prstGeom prst="rect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3642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 spc="4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共鸣：闻声对决　·　黑客松答辩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64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1284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8836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 spc="32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开房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9504"/>
            <a:ext cx="188366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2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「房间1234开好了，把房间号告诉另一位玩家，说『加入房间1234』就能进来。」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62072" y="2249424"/>
            <a:ext cx="7315" cy="2395728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21284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468880"/>
            <a:ext cx="18836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 spc="32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加入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889504"/>
            <a:ext cx="188366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2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「我进了房间1234，对面就是另一位玩家。对决开始，对手先手，我18点生命值，对手14点生命值。」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65192" y="2249424"/>
            <a:ext cx="7315" cy="2395728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21284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468880"/>
            <a:ext cx="18836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 spc="32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出招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889504"/>
            <a:ext cx="188366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2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「我出普攻，接招！等对手应对。」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68312" y="2249424"/>
            <a:ext cx="7315" cy="2395728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2212848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468880"/>
            <a:ext cx="18836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 spc="32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应对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889504"/>
            <a:ext cx="188366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2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「对手普攻，我18点生命值、3点能量。格挡减2伤、闪避赌躲开，都花1点能量；承受不消耗能量。」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8" y="2231136"/>
            <a:ext cx="2084831" cy="2761488"/>
          </a:xfrm>
          <a:prstGeom prst="rect">
            <a:avLst/>
          </a:prstGeom>
          <a:noFill/>
          <a:ln w="12700">
            <a:solidFill>
              <a:srgbClr val="C9C1B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3090672"/>
            <a:ext cx="17922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95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手机伙伴页 / 真机画面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3675887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 i="0">
                <a:solidFill>
                  <a:srgbClr val="B4AC9C"/>
                </a:solidFill>
                <a:latin typeface="PingFang SC"/>
                <a:ea typeface="PingFang SC"/>
                <a:cs typeface="PingFang SC"/>
              </a:rPr>
              <a:t>（待补截图）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650992"/>
            <a:ext cx="10454335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79008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以上都是直接朗读的原话，伙伴自称「我」，对方一律称「对手」。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779008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出处：docs/product/player-journey.md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03　·　玩法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规则引擎统一裁决，玩家只做决定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47088"/>
            <a:ext cx="1051560" cy="7315"/>
          </a:xfrm>
          <a:prstGeom prst="rect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3642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 spc="4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共鸣：闻声对决　·　黑客松答辩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64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31136"/>
            <a:ext cx="1874519" cy="27432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主动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4 选 1</a:t>
            </a:r>
          </a:p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普攻/强攻/大招/蓄力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23591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54096" y="2231136"/>
            <a:ext cx="1874519" cy="27432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2395728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应对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7889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3 选 1</a:t>
            </a:r>
          </a:p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格挡/闪避/承受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3" y="23591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9512" y="2231136"/>
            <a:ext cx="1874519" cy="27432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2395728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结算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7889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伤害、暴击、闪避</a:t>
            </a:r>
          </a:p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由纯函数算出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19" y="23591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24927" y="2231136"/>
            <a:ext cx="1874519" cy="27432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7" y="2395728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推进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27889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换手、回能量</a:t>
            </a:r>
          </a:p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第 3 轮起加压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5" y="23591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10343" y="2231136"/>
            <a:ext cx="1874519" cy="27432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0343" y="2395728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终局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0343" y="278892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3–5 个完整回合</a:t>
            </a:r>
          </a:p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分出胜负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877056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生命值、能量、轮次、随机数、胜负，只有服务端能改；模型和客户端都不能改。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498848"/>
            <a:ext cx="10454335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736592"/>
            <a:ext cx="23042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11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 个动作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31536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每个都有别名与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ASR 同音兜底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7015" y="4736592"/>
            <a:ext cx="23042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3–5</a:t>
            </a:r>
            <a:r>
              <a:rPr sz="11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 点能量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5" y="5431536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开局 3、上限 5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主动阶段回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4736592"/>
            <a:ext cx="23042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14 / 18</a:t>
            </a:r>
            <a:r>
              <a:rPr sz="11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 生命值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5431536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先手吃亏，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用血量补偿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33688" y="4736592"/>
            <a:ext cx="230428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+2</a:t>
            </a:r>
            <a:r>
              <a:rPr sz="11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 第 3 轮起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688" y="5431536"/>
            <a:ext cx="230428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每轮加伤，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逼出胜负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04　·　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平台管耳朵和嘴，服务端管规则和胜负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47088"/>
            <a:ext cx="1051560" cy="7315"/>
          </a:xfrm>
          <a:prstGeom prst="rect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3642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 spc="4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共鸣：闻声对决　·　黑客松答辩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64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157984"/>
            <a:ext cx="7635240" cy="859536"/>
          </a:xfrm>
          <a:prstGeom prst="rect">
            <a:avLst/>
          </a:prstGeom>
          <a:solidFill>
            <a:srgbClr val="F7F4EF"/>
          </a:solidFill>
          <a:ln w="9525">
            <a:solidFill>
              <a:srgbClr val="D8D0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2768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2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677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无屏硬件 · 手机网页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60320"/>
            <a:ext cx="6446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唤醒词、ASR 听写、TTS 朗读；玩家只说原话，不点按钮。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9923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218687"/>
            <a:ext cx="7635240" cy="859536"/>
          </a:xfrm>
          <a:prstGeom prst="rect">
            <a:avLst/>
          </a:prstGeom>
          <a:solidFill>
            <a:srgbClr val="F7F4EF"/>
          </a:solidFill>
          <a:ln w="9525">
            <a:solidFill>
              <a:srgbClr val="D8D0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33755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2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28415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灵犀 · 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21023"/>
            <a:ext cx="6446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把原话透传给服务，带上 X-Linx-Device-Id / Agent-Id / Session-Id / Display。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059935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279392"/>
            <a:ext cx="7635240" cy="859536"/>
          </a:xfrm>
          <a:prstGeom prst="rect">
            <a:avLst/>
          </a:prstGeom>
          <a:solidFill>
            <a:srgbClr val="1517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3982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20">
                <a:solidFill>
                  <a:srgbClr val="E87A66"/>
                </a:solidFill>
                <a:latin typeface="PingFang SC"/>
                <a:ea typeface="PingFang SC"/>
                <a:cs typeface="PingFang SC"/>
              </a:rPr>
              <a:t>服务端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89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7F4EF"/>
                </a:solidFill>
                <a:latin typeface="PingFang SC"/>
                <a:ea typeface="PingFang SC"/>
                <a:cs typeface="PingFang SC"/>
              </a:rPr>
              <a:t>接入 → 编排 → 规则 → 表现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81728"/>
            <a:ext cx="6446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C9C4BA"/>
                </a:solidFill>
                <a:latin typeface="PingFang SC"/>
                <a:ea typeface="PingFang SC"/>
                <a:cs typeface="PingFang SC"/>
              </a:rPr>
              <a:t>MCP 工具接话；对局读改写走事务；结算用纯函数；播报集中在 narrator。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12064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340096"/>
            <a:ext cx="7635240" cy="859536"/>
          </a:xfrm>
          <a:prstGeom prst="rect">
            <a:avLst/>
          </a:prstGeom>
          <a:solidFill>
            <a:srgbClr val="F7F4EF"/>
          </a:solidFill>
          <a:ln w="9525">
            <a:solidFill>
              <a:srgbClr val="D8D0C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54589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2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模型侧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4498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路由 · 对手 · 问答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742432"/>
            <a:ext cx="6446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只做归属判断与合法动作选择；失败就回退本地规则或固定话术。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1214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三条硬边界</a:t>
            </a:r>
          </a:p>
        </p:txBody>
      </p:sp>
      <p:sp>
        <p:nvSpPr>
          <p:cNvPr id="27" name="Diamond 26"/>
          <p:cNvSpPr/>
          <p:nvPr/>
        </p:nvSpPr>
        <p:spPr>
          <a:xfrm>
            <a:off x="9098280" y="2542032"/>
            <a:ext cx="82296" cy="82296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17736" y="24871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模型不产生数值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7736" y="2779776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路由、对手、问答都只在既定选项里挑，输出要过规则校验。</a:t>
            </a:r>
          </a:p>
        </p:txBody>
      </p:sp>
      <p:sp>
        <p:nvSpPr>
          <p:cNvPr id="30" name="Diamond 29"/>
          <p:cNvSpPr/>
          <p:nvPr/>
        </p:nvSpPr>
        <p:spPr>
          <a:xfrm>
            <a:off x="9098280" y="3767328"/>
            <a:ext cx="82296" cy="82296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3712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客户端不推演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400507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页面只读同步局面，唯一的输入路径是「说一句话」。</a:t>
            </a:r>
          </a:p>
        </p:txBody>
      </p:sp>
      <p:sp>
        <p:nvSpPr>
          <p:cNvPr id="33" name="Diamond 32"/>
          <p:cNvSpPr/>
          <p:nvPr/>
        </p:nvSpPr>
        <p:spPr>
          <a:xfrm>
            <a:off x="9098280" y="4992624"/>
            <a:ext cx="82296" cy="82296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17736" y="49377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随机可复现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7736" y="5230368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seed 与计数固定后，同一局能逐项重放。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05　·　约束与解法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平台没给的能力，换一条路补回来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47088"/>
            <a:ext cx="1051560" cy="7315"/>
          </a:xfrm>
          <a:prstGeom prst="rect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3642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 spc="4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共鸣：闻声对决　·　黑客松答辩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64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3969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6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平台限制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928" y="2139696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6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我们的做法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1" y="2139696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1" i="0" spc="16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现在的结果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395728"/>
            <a:ext cx="10454335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23744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ASR 没有热词，招式名会听错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95928" y="252374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端侧同音词表（58 音节 / 1700+ 字）+ 规则优先的混合路由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1" y="2523744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自拟 64 条语料命中 92.2%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145536"/>
            <a:ext cx="10454335" cy="5486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36976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只透传文字，没有音频旁路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3236976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服务端只吃原话，不做音频处理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3236976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已按此形态运行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858768"/>
            <a:ext cx="10454335" cy="5486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50208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拿不到「谁在说话」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395020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按 deviceId#agentId 认人，一台设备一个伙伴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3950208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演示用两台设备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572000"/>
            <a:ext cx="10454335" cy="5486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服务端不能主动开口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95928" y="466344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补账队列 + wait_event 挂起等对手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1" y="46634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特性分支已实现，真机不稳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5285232"/>
            <a:ext cx="10454335" cy="5486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376672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误识别不能吞掉回合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928" y="5376672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认不出就请玩家重说：不扣资源、不推进阶段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1" y="5376672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边界测试覆盖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9984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平台能力取证见 docs/engineering/platform-voice-capabilities.md（46 页文档，2026-10-24）。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06　·　为什么是语音 + 硬件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手忙着的时候，只有嘴是自由的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47088"/>
            <a:ext cx="1051560" cy="7315"/>
          </a:xfrm>
          <a:prstGeom prst="rect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3642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 spc="4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共鸣：闻声对决　·　黑客松答辩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64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39" y="215798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2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手机游戏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5231" y="215798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2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语音助手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3024" y="215798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2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我们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414016"/>
            <a:ext cx="10454335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2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254203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手指点按，眼睛盯着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254203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一问一答，说完就散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542032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原话直给，手是空的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035808"/>
            <a:ext cx="10454335" cy="5486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1638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2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对手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3145536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匹配到的陌生人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1" y="3145536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没有对手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3145536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坐你对面的朋友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639311"/>
            <a:ext cx="10454335" cy="5486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6732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2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伙伴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39" y="3749039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角色是你捏的头像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3749039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助手，不替你出手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3749039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会替你还手的伙伴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242816"/>
            <a:ext cx="10454335" cy="5486"/>
          </a:xfrm>
          <a:prstGeom prst="rect">
            <a:avLst/>
          </a:prstGeom>
          <a:solidFill>
            <a:srgbClr val="E6D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7083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12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场合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39" y="4352544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需要腾出双手和视线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1" y="4352544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独处、碎片时间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4352544"/>
            <a:ext cx="2697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面对面，边聊边打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2468880"/>
            <a:ext cx="10972" cy="2395728"/>
          </a:xfrm>
          <a:prstGeom prst="rect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" y="5029200"/>
            <a:ext cx="10454335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303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伙伴先答应你，再替你出手——这件事只有语音做得自然。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76072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换成点按，它退化成按钮；换成问答，它没有立场。语音 + 代理感，才是这个玩法成立的原因。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07　·　现在的状态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能跑的数字，和还不能吹的部分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47088"/>
            <a:ext cx="1051560" cy="7315"/>
          </a:xfrm>
          <a:prstGeom prst="rect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3642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 spc="4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共鸣：闻声对决　·　黑客松答辩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64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3969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256,000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局对拍，零漂移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39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8 种策略 × 16 组合 × 2000 局，逐项比对旧版本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5576" y="213969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92.2%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2560320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指令识别命中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2834639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自拟 64 条语料，混合路由；纯模型为 90.6%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2102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87.53%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416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对局在 3–5 轮结束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15968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256,000 局统计；一个完整回合 = 双方各行动一次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362102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404164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个 MCP 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5576" y="4315968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5 个稳定 + wait_event（特性分支，真机触发不稳）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98464" y="2103120"/>
            <a:ext cx="7315" cy="3383280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4" y="2139696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还不能吹的</a:t>
            </a:r>
          </a:p>
        </p:txBody>
      </p:sp>
      <p:sp>
        <p:nvSpPr>
          <p:cNvPr id="21" name="Diamond 20"/>
          <p:cNvSpPr/>
          <p:nvPr/>
        </p:nvSpPr>
        <p:spPr>
          <a:xfrm>
            <a:off x="6272784" y="2569464"/>
            <a:ext cx="68580" cy="68580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505456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真机唤醒、朗读尚未验收，沙箱通过不等于真机通过。</a:t>
            </a:r>
          </a:p>
        </p:txBody>
      </p:sp>
      <p:sp>
        <p:nvSpPr>
          <p:cNvPr id="23" name="Diamond 22"/>
          <p:cNvSpPr/>
          <p:nvPr/>
        </p:nvSpPr>
        <p:spPr>
          <a:xfrm>
            <a:off x="6272784" y="3319272"/>
            <a:ext cx="68580" cy="68580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255264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wait_event 在真实链路上触发不稳，演示默认不用它兜底。</a:t>
            </a:r>
          </a:p>
        </p:txBody>
      </p:sp>
      <p:sp>
        <p:nvSpPr>
          <p:cNvPr id="25" name="Diamond 24"/>
          <p:cNvSpPr/>
          <p:nvPr/>
        </p:nvSpPr>
        <p:spPr>
          <a:xfrm>
            <a:off x="6272784" y="4069080"/>
            <a:ext cx="68580" cy="68580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00507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手机网页端仍在特性分支，未合入主干、未经验收。</a:t>
            </a:r>
          </a:p>
        </p:txBody>
      </p:sp>
      <p:sp>
        <p:nvSpPr>
          <p:cNvPr id="27" name="Diamond 26"/>
          <p:cNvSpPr/>
          <p:nvPr/>
        </p:nvSpPr>
        <p:spPr>
          <a:xfrm>
            <a:off x="6272784" y="4818888"/>
            <a:ext cx="68580" cy="68580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7548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没有账号、匹配、多实例：现在是「两个人、两台设备」的演示形态。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94360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数据出处：pnpm validate、test/fixtures/v02-validation.json、docs/engineering/command-routing.md。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08　·　接下来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先把一局打稳，再把一台设备变成多个人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47088"/>
            <a:ext cx="1051560" cy="7315"/>
          </a:xfrm>
          <a:prstGeom prst="rect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3642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 spc="4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共鸣：闻声对决　·　黑客松答辩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64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487168"/>
            <a:ext cx="10454335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68680" y="2432304"/>
            <a:ext cx="118872" cy="118872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88336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演示周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5409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10 月 26 日起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0156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—　双人闭环在真机上跑稳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5876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—　写好掉线、说错、说半句的兜底话术</a:t>
            </a:r>
          </a:p>
        </p:txBody>
      </p:sp>
      <p:sp>
        <p:nvSpPr>
          <p:cNvPr id="13" name="Diamond 12"/>
          <p:cNvSpPr/>
          <p:nvPr/>
        </p:nvSpPr>
        <p:spPr>
          <a:xfrm>
            <a:off x="4489704" y="2432304"/>
            <a:ext cx="118872" cy="118872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2688336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2–4 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305409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演示之后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340156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—　真机唤醒 / 朗读验收，补齐验收清单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385876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—　wait_event 触发修到可用；手机端合入主干</a:t>
            </a:r>
          </a:p>
        </p:txBody>
      </p:sp>
      <p:sp>
        <p:nvSpPr>
          <p:cNvPr id="18" name="Diamond 17"/>
          <p:cNvSpPr/>
          <p:nvPr/>
        </p:nvSpPr>
        <p:spPr>
          <a:xfrm>
            <a:off x="8110727" y="2432304"/>
            <a:ext cx="118872" cy="118872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7" y="2688336"/>
            <a:ext cx="3200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3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305409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验证之后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340156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—　一台硬件承载多个伙伴，小屏 + 外部灯效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385876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—　自建音频链路的可行性（已评估约 9 人日）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882896"/>
            <a:ext cx="10454335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2920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这段时间不做的事：账号体系、匹配、多实例、Redis 与数据库——先把两个人这一局打完。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681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排序原则：先让「两个人现场打完一局」成立，再加能力和场景。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10454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 spc="26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09　·　团队与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104543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1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我们想要什么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47088"/>
            <a:ext cx="1051560" cy="7315"/>
          </a:xfrm>
          <a:prstGeom prst="rect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36422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 i="0" spc="4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共鸣：闻声对决　·　黑客松答辩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5735" y="63642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 i="0" spc="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214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8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分工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95728"/>
            <a:ext cx="4480560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规则与并发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39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纯函数结算、事务与去重、随机可复现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28415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语音与交互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21023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三层识别、播报措辞、补账与多端呈现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平台与演示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074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MCP 接入、真机联调、沙箱与现场控场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01184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8577"/>
                </a:solidFill>
                <a:latin typeface="PingFang SC"/>
                <a:ea typeface="PingFang SC"/>
                <a:cs typeface="PingFang SC"/>
              </a:rPr>
              <a:t>一套代码，同一份文档，一个演示脚本。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2395728"/>
            <a:ext cx="7315" cy="2834640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5856" y="212140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 i="0" spc="180">
                <a:solidFill>
                  <a:srgbClr val="D9503B"/>
                </a:solidFill>
                <a:latin typeface="PingFang SC"/>
                <a:ea typeface="PingFang SC"/>
                <a:cs typeface="PingFang SC"/>
              </a:rPr>
              <a:t>Ask</a:t>
            </a:r>
          </a:p>
        </p:txBody>
      </p:sp>
      <p:sp>
        <p:nvSpPr>
          <p:cNvPr id="18" name="Diamond 17"/>
          <p:cNvSpPr/>
          <p:nvPr/>
        </p:nvSpPr>
        <p:spPr>
          <a:xfrm>
            <a:off x="5705856" y="2606039"/>
            <a:ext cx="68580" cy="68580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7024" y="2542032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两台灵犀设备 + 现场网络白名单：沙箱已跑通，缺真机。</a:t>
            </a:r>
          </a:p>
        </p:txBody>
      </p:sp>
      <p:sp>
        <p:nvSpPr>
          <p:cNvPr id="20" name="Diamond 19"/>
          <p:cNvSpPr/>
          <p:nvPr/>
        </p:nvSpPr>
        <p:spPr>
          <a:xfrm>
            <a:off x="5705856" y="3209544"/>
            <a:ext cx="68580" cy="68580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07024" y="3145536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平台侧答复：ASR 热词、长请求与主动播报的边界。</a:t>
            </a:r>
          </a:p>
        </p:txBody>
      </p:sp>
      <p:sp>
        <p:nvSpPr>
          <p:cNvPr id="22" name="Diamond 21"/>
          <p:cNvSpPr/>
          <p:nvPr/>
        </p:nvSpPr>
        <p:spPr>
          <a:xfrm>
            <a:off x="5705856" y="3813048"/>
            <a:ext cx="68580" cy="68580"/>
          </a:xfrm>
          <a:prstGeom prst="diamond">
            <a:avLst/>
          </a:prstGeom>
          <a:solidFill>
            <a:srgbClr val="D95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07024" y="3749039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4B4F55"/>
                </a:solidFill>
                <a:latin typeface="PingFang SC"/>
                <a:ea typeface="PingFang SC"/>
                <a:cs typeface="PingFang SC"/>
              </a:rPr>
              <a:t>一个可复用的线下场景：展会、门店或桌游吧。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541264"/>
            <a:ext cx="10454335" cy="7315"/>
          </a:xfrm>
          <a:prstGeom prst="rect">
            <a:avLst/>
          </a:prstGeom>
          <a:solidFill>
            <a:srgbClr val="D8D0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632704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5171B"/>
                </a:solidFill>
                <a:latin typeface="PingFang SC"/>
                <a:ea typeface="PingFang SC"/>
                <a:cs typeface="PingFang SC"/>
              </a:rPr>
              <a:t>平台给不了的能力，用工程补回来。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